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801600" cy="9601200" type="A3"/>
  <p:notesSz cx="12801600" cy="96012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650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546725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7251700" y="0"/>
            <a:ext cx="5546725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5BE9F-3B8A-478C-BBB2-23077DAFD82F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40005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1279525" y="4560888"/>
            <a:ext cx="10242550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5546725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7251700" y="9120188"/>
            <a:ext cx="5546725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D49DD-A0BC-4FBD-AE75-4AC04F301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2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CD49DD-A0BC-4FBD-AE75-4AC04F301A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57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0120" y="2976372"/>
            <a:ext cx="10881360" cy="20162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20240" y="5376672"/>
            <a:ext cx="8961120" cy="240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40080" y="2208276"/>
            <a:ext cx="5568696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92824" y="2208276"/>
            <a:ext cx="5568696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1275" y="284926"/>
            <a:ext cx="5857240" cy="1207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0080" y="2208276"/>
            <a:ext cx="11521440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52544" y="8929116"/>
            <a:ext cx="4096512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40080" y="8929116"/>
            <a:ext cx="2944368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17152" y="8929116"/>
            <a:ext cx="2944368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dgs.un.org/goal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275" y="284926"/>
            <a:ext cx="5857240" cy="1207770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85725" marR="3598545">
              <a:lnSpc>
                <a:spcPct val="100000"/>
              </a:lnSpc>
              <a:spcBef>
                <a:spcPts val="200"/>
              </a:spcBef>
            </a:pPr>
            <a:r>
              <a:rPr dirty="0" smtClean="0"/>
              <a:t>PROJECT</a:t>
            </a:r>
            <a:r>
              <a:rPr spc="-135" dirty="0" smtClean="0"/>
              <a:t> </a:t>
            </a:r>
            <a:r>
              <a:rPr spc="-10" dirty="0" smtClean="0"/>
              <a:t>NAME: </a:t>
            </a:r>
            <a:r>
              <a:rPr dirty="0" smtClean="0"/>
              <a:t>TEAM</a:t>
            </a:r>
            <a:r>
              <a:rPr spc="-65" dirty="0" smtClean="0"/>
              <a:t> </a:t>
            </a:r>
            <a:r>
              <a:rPr spc="-10" dirty="0" smtClean="0"/>
              <a:t>MEMBERS: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373412" y="2414462"/>
            <a:ext cx="11819255" cy="529590"/>
          </a:xfrm>
          <a:custGeom>
            <a:avLst/>
            <a:gdLst/>
            <a:ahLst/>
            <a:cxnLst/>
            <a:rect l="l" t="t" r="r" b="b"/>
            <a:pathLst>
              <a:path w="11819255" h="529589">
                <a:moveTo>
                  <a:pt x="0" y="12"/>
                </a:moveTo>
                <a:lnTo>
                  <a:pt x="5892899" y="12"/>
                </a:lnTo>
                <a:lnTo>
                  <a:pt x="5892899" y="520512"/>
                </a:lnTo>
                <a:lnTo>
                  <a:pt x="0" y="520512"/>
                </a:lnTo>
                <a:lnTo>
                  <a:pt x="0" y="12"/>
                </a:lnTo>
                <a:close/>
              </a:path>
              <a:path w="11819255" h="529589">
                <a:moveTo>
                  <a:pt x="5925762" y="0"/>
                </a:moveTo>
                <a:lnTo>
                  <a:pt x="11818662" y="0"/>
                </a:lnTo>
                <a:lnTo>
                  <a:pt x="11818662" y="529499"/>
                </a:lnTo>
                <a:lnTo>
                  <a:pt x="5925762" y="529499"/>
                </a:lnTo>
                <a:lnTo>
                  <a:pt x="5925762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0724" y="3053850"/>
            <a:ext cx="5895975" cy="3094990"/>
          </a:xfrm>
          <a:custGeom>
            <a:avLst/>
            <a:gdLst/>
            <a:ahLst/>
            <a:cxnLst/>
            <a:rect l="l" t="t" r="r" b="b"/>
            <a:pathLst>
              <a:path w="5895975" h="3094990">
                <a:moveTo>
                  <a:pt x="2699" y="0"/>
                </a:moveTo>
                <a:lnTo>
                  <a:pt x="5895599" y="0"/>
                </a:lnTo>
                <a:lnTo>
                  <a:pt x="5895599" y="2550899"/>
                </a:lnTo>
                <a:lnTo>
                  <a:pt x="2699" y="2550899"/>
                </a:lnTo>
                <a:lnTo>
                  <a:pt x="2699" y="0"/>
                </a:lnTo>
                <a:close/>
              </a:path>
              <a:path w="5895975" h="3094990">
                <a:moveTo>
                  <a:pt x="0" y="2574367"/>
                </a:moveTo>
                <a:lnTo>
                  <a:pt x="3896399" y="2574367"/>
                </a:lnTo>
                <a:lnTo>
                  <a:pt x="3896399" y="3094867"/>
                </a:lnTo>
                <a:lnTo>
                  <a:pt x="0" y="3094867"/>
                </a:lnTo>
                <a:lnTo>
                  <a:pt x="0" y="2574367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3749" y="5641425"/>
            <a:ext cx="2739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3.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SMART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OBJECTIVES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00125" y="5623717"/>
            <a:ext cx="3896995" cy="529590"/>
          </a:xfrm>
          <a:custGeom>
            <a:avLst/>
            <a:gdLst/>
            <a:ahLst/>
            <a:cxnLst/>
            <a:rect l="l" t="t" r="r" b="b"/>
            <a:pathLst>
              <a:path w="3896995" h="529589">
                <a:moveTo>
                  <a:pt x="0" y="0"/>
                </a:moveTo>
                <a:lnTo>
                  <a:pt x="3896399" y="0"/>
                </a:lnTo>
                <a:lnTo>
                  <a:pt x="3896399" y="529499"/>
                </a:lnTo>
                <a:lnTo>
                  <a:pt x="0" y="5294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3150" y="5636926"/>
            <a:ext cx="10363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4.</a:t>
            </a:r>
            <a:r>
              <a:rPr sz="2400" spc="-10" dirty="0">
                <a:latin typeface="Calibri"/>
                <a:cs typeface="Calibri"/>
              </a:rPr>
              <a:t> PRICE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29524" y="5628217"/>
            <a:ext cx="3896995" cy="520700"/>
          </a:xfrm>
          <a:custGeom>
            <a:avLst/>
            <a:gdLst/>
            <a:ahLst/>
            <a:cxnLst/>
            <a:rect l="l" t="t" r="r" b="b"/>
            <a:pathLst>
              <a:path w="3896995" h="520700">
                <a:moveTo>
                  <a:pt x="0" y="0"/>
                </a:moveTo>
                <a:lnTo>
                  <a:pt x="3896399" y="0"/>
                </a:lnTo>
                <a:lnTo>
                  <a:pt x="3896399" y="520499"/>
                </a:lnTo>
                <a:lnTo>
                  <a:pt x="0" y="5204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302549" y="5641425"/>
            <a:ext cx="1905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5.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PROMOTION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15249" y="6827605"/>
            <a:ext cx="23177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0"/>
              </a:lnSpc>
            </a:pPr>
            <a:r>
              <a:rPr sz="2400" spc="-25" dirty="0">
                <a:latin typeface="Calibri"/>
                <a:cs typeface="Calibri"/>
              </a:rPr>
              <a:t>5.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95524" y="6259924"/>
            <a:ext cx="3896995" cy="3113405"/>
          </a:xfrm>
          <a:custGeom>
            <a:avLst/>
            <a:gdLst/>
            <a:ahLst/>
            <a:cxnLst/>
            <a:rect l="l" t="t" r="r" b="b"/>
            <a:pathLst>
              <a:path w="3896995" h="3113404">
                <a:moveTo>
                  <a:pt x="3896399" y="3112799"/>
                </a:moveTo>
                <a:lnTo>
                  <a:pt x="0" y="3112799"/>
                </a:lnTo>
                <a:lnTo>
                  <a:pt x="0" y="0"/>
                </a:lnTo>
                <a:lnTo>
                  <a:pt x="3896399" y="0"/>
                </a:lnTo>
                <a:lnTo>
                  <a:pt x="3896399" y="3112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317024" y="284926"/>
            <a:ext cx="5857240" cy="1207770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00"/>
              </a:spcBef>
            </a:pPr>
            <a:r>
              <a:rPr sz="2400" dirty="0">
                <a:latin typeface="Calibri"/>
                <a:cs typeface="Calibri"/>
              </a:rPr>
              <a:t>IDEA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SHORT: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0724" y="1611287"/>
            <a:ext cx="11821795" cy="684530"/>
          </a:xfrm>
          <a:custGeom>
            <a:avLst/>
            <a:gdLst/>
            <a:ahLst/>
            <a:cxnLst/>
            <a:rect l="l" t="t" r="r" b="b"/>
            <a:pathLst>
              <a:path w="11821795" h="684530">
                <a:moveTo>
                  <a:pt x="0" y="0"/>
                </a:moveTo>
                <a:lnTo>
                  <a:pt x="11821199" y="0"/>
                </a:lnTo>
                <a:lnTo>
                  <a:pt x="11821199" y="684299"/>
                </a:lnTo>
                <a:lnTo>
                  <a:pt x="0" y="6842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2858" y="1592132"/>
            <a:ext cx="11090111" cy="12798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1615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Cambria"/>
                <a:cs typeface="Cambria"/>
              </a:rPr>
              <a:t>Hardcore</a:t>
            </a:r>
            <a:r>
              <a:rPr sz="4000" b="1" spc="-60" dirty="0">
                <a:latin typeface="Cambria"/>
                <a:cs typeface="Cambria"/>
              </a:rPr>
              <a:t> </a:t>
            </a:r>
            <a:r>
              <a:rPr lang="en-US" sz="4000" b="1" spc="-60" dirty="0">
                <a:solidFill>
                  <a:srgbClr val="F13662"/>
                </a:solidFill>
                <a:latin typeface="Arial MT"/>
                <a:cs typeface="Cambria"/>
              </a:rPr>
              <a:t>Entrepreneur</a:t>
            </a:r>
            <a:r>
              <a:rPr sz="4000" spc="-130" dirty="0">
                <a:solidFill>
                  <a:srgbClr val="F13662"/>
                </a:solidFill>
                <a:latin typeface="Arial MT"/>
                <a:cs typeface="Arial MT"/>
              </a:rPr>
              <a:t> </a:t>
            </a:r>
            <a:r>
              <a:rPr sz="4000" b="1" dirty="0" err="1">
                <a:latin typeface="Cambria"/>
                <a:cs typeface="Cambria"/>
              </a:rPr>
              <a:t>hackathon</a:t>
            </a:r>
            <a:r>
              <a:rPr sz="4000" b="1" spc="-60" dirty="0">
                <a:latin typeface="Cambria"/>
                <a:cs typeface="Cambria"/>
              </a:rPr>
              <a:t> </a:t>
            </a:r>
            <a:r>
              <a:rPr lang="en-US" sz="4000" b="1" spc="-25" dirty="0">
                <a:solidFill>
                  <a:srgbClr val="F13662"/>
                </a:solidFill>
                <a:latin typeface="Arial MT"/>
                <a:cs typeface="Cambria"/>
              </a:rPr>
              <a:t>6.0</a:t>
            </a:r>
            <a:endParaRPr sz="4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90"/>
              </a:spcBef>
              <a:tabLst>
                <a:tab pos="5937885" algn="l"/>
              </a:tabLst>
            </a:pPr>
            <a:r>
              <a:rPr sz="2400" dirty="0">
                <a:latin typeface="Calibri"/>
                <a:cs typeface="Calibri"/>
              </a:rPr>
              <a:t>1.PRODUCT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SOLVE</a:t>
            </a:r>
            <a:r>
              <a:rPr sz="2400" dirty="0">
                <a:latin typeface="Calibri"/>
                <a:cs typeface="Calibri"/>
              </a:rPr>
              <a:t>	2.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35" dirty="0">
                <a:latin typeface="Calibri"/>
                <a:cs typeface="Calibri"/>
              </a:rPr>
              <a:t> TARGET </a:t>
            </a:r>
            <a:r>
              <a:rPr sz="2400" spc="-10" dirty="0">
                <a:latin typeface="Calibri"/>
                <a:cs typeface="Calibri"/>
              </a:rPr>
              <a:t>GROUP</a:t>
            </a:r>
            <a:r>
              <a:rPr lang="en-US" sz="2400" spc="-10" dirty="0">
                <a:latin typeface="Calibri"/>
                <a:cs typeface="Calibri"/>
              </a:rPr>
              <a:t> &amp; </a:t>
            </a:r>
            <a:r>
              <a:rPr lang="en-US" sz="2400" spc="-10" dirty="0">
                <a:latin typeface="Calibri"/>
                <a:cs typeface="Calibri"/>
                <a:hlinkClick r:id="rId3"/>
              </a:rPr>
              <a:t>SDGs 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728699" y="2476036"/>
            <a:ext cx="6354445" cy="406400"/>
            <a:chOff x="5728699" y="2476036"/>
            <a:chExt cx="6354445" cy="406400"/>
          </a:xfrm>
        </p:grpSpPr>
        <p:sp>
          <p:nvSpPr>
            <p:cNvPr id="18" name="object 18"/>
            <p:cNvSpPr/>
            <p:nvPr/>
          </p:nvSpPr>
          <p:spPr>
            <a:xfrm>
              <a:off x="5741399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41399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658550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658550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773949" y="3050150"/>
            <a:ext cx="8430895" cy="3041650"/>
            <a:chOff x="3773949" y="3050150"/>
            <a:chExt cx="8430895" cy="3041650"/>
          </a:xfrm>
        </p:grpSpPr>
        <p:sp>
          <p:nvSpPr>
            <p:cNvPr id="23" name="object 23"/>
            <p:cNvSpPr/>
            <p:nvPr/>
          </p:nvSpPr>
          <p:spPr>
            <a:xfrm>
              <a:off x="3786649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86649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9620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6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9620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60575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60575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99162" y="3062850"/>
              <a:ext cx="5893435" cy="2551430"/>
            </a:xfrm>
            <a:custGeom>
              <a:avLst/>
              <a:gdLst/>
              <a:ahLst/>
              <a:cxnLst/>
              <a:rect l="l" t="t" r="r" b="b"/>
              <a:pathLst>
                <a:path w="5893434" h="2551429">
                  <a:moveTo>
                    <a:pt x="0" y="0"/>
                  </a:moveTo>
                  <a:lnTo>
                    <a:pt x="5892899" y="0"/>
                  </a:lnTo>
                  <a:lnTo>
                    <a:pt x="5892899" y="2550899"/>
                  </a:lnTo>
                  <a:lnTo>
                    <a:pt x="0" y="25508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Subtitlu 2"/>
          <p:cNvSpPr txBox="1">
            <a:spLocks/>
          </p:cNvSpPr>
          <p:nvPr/>
        </p:nvSpPr>
        <p:spPr>
          <a:xfrm>
            <a:off x="2433114" y="284926"/>
            <a:ext cx="3734022" cy="373073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+mj-lt"/>
              </a:rPr>
              <a:t>LINKO</a:t>
            </a:r>
            <a:endParaRPr lang="en-US" sz="2400" dirty="0">
              <a:latin typeface="+mj-lt"/>
            </a:endParaRPr>
          </a:p>
        </p:txBody>
      </p:sp>
      <p:sp>
        <p:nvSpPr>
          <p:cNvPr id="34" name="Subtitlu 2"/>
          <p:cNvSpPr txBox="1">
            <a:spLocks/>
          </p:cNvSpPr>
          <p:nvPr/>
        </p:nvSpPr>
        <p:spPr>
          <a:xfrm>
            <a:off x="2583002" y="636166"/>
            <a:ext cx="3734022" cy="373073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+mj-lt"/>
              </a:rPr>
              <a:t>COROIU SEBASTIAN-DANIEL</a:t>
            </a:r>
            <a:endParaRPr lang="en-US" sz="2400" dirty="0">
              <a:latin typeface="+mj-lt"/>
            </a:endParaRPr>
          </a:p>
        </p:txBody>
      </p:sp>
      <p:sp>
        <p:nvSpPr>
          <p:cNvPr id="35" name="Subtitlu 2"/>
          <p:cNvSpPr txBox="1">
            <a:spLocks/>
          </p:cNvSpPr>
          <p:nvPr/>
        </p:nvSpPr>
        <p:spPr>
          <a:xfrm>
            <a:off x="6363109" y="636165"/>
            <a:ext cx="5763410" cy="735435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/>
              <a:t>Linko</a:t>
            </a:r>
            <a:r>
              <a:rPr lang="en-US" sz="1600" dirty="0"/>
              <a:t> connects elderly individuals in need of daily support (groceries, medication, check-ins) with young volunteers in their community through an intuitive mobile app.</a:t>
            </a:r>
            <a:endParaRPr lang="vi-VN" sz="1600" dirty="0"/>
          </a:p>
        </p:txBody>
      </p:sp>
      <p:sp>
        <p:nvSpPr>
          <p:cNvPr id="36" name="Subtitlu 2"/>
          <p:cNvSpPr txBox="1">
            <a:spLocks/>
          </p:cNvSpPr>
          <p:nvPr/>
        </p:nvSpPr>
        <p:spPr>
          <a:xfrm>
            <a:off x="437006" y="3093426"/>
            <a:ext cx="5763410" cy="239297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PROBLEM: </a:t>
            </a:r>
          </a:p>
          <a:p>
            <a:r>
              <a:rPr lang="en-US" sz="1600" dirty="0" smtClean="0">
                <a:latin typeface="Calibri" pitchFamily="34" charset="0"/>
                <a:cs typeface="Calibri" pitchFamily="34" charset="0"/>
              </a:rPr>
              <a:t>Romania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has 3.2 million elderly people, with 40% living alone, facing isolation, limited mobility, and vulnerability in emergencies.</a:t>
            </a:r>
          </a:p>
          <a:p>
            <a:endParaRPr lang="en-US" sz="16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SOLUTION</a:t>
            </a:r>
            <a:r>
              <a:rPr lang="vi-VN" sz="1600" b="1" dirty="0" smtClean="0">
                <a:latin typeface="Calibri" pitchFamily="34" charset="0"/>
                <a:cs typeface="Calibri" pitchFamily="34" charset="0"/>
              </a:rPr>
              <a:t>: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A mobile app that connects elderly individuals (65+) with verified volunteers (18–35) for fast, local support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  <a:p>
            <a:r>
              <a:rPr lang="en-US" sz="1600" dirty="0" smtClean="0">
                <a:latin typeface="Calibri" pitchFamily="34" charset="0"/>
                <a:cs typeface="Calibri" pitchFamily="34" charset="0"/>
              </a:rPr>
              <a:t>- On-demand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help (groceries, medication, check-ins)</a:t>
            </a:r>
          </a:p>
          <a:p>
            <a:r>
              <a:rPr lang="en-US" sz="1600" dirty="0" smtClean="0">
                <a:latin typeface="Calibri" pitchFamily="34" charset="0"/>
                <a:cs typeface="Calibri" pitchFamily="34" charset="0"/>
              </a:rPr>
              <a:t>- Proxy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Requests (request help for 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others)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  <a:p>
            <a:r>
              <a:rPr lang="en-US" sz="1600" dirty="0" smtClean="0">
                <a:latin typeface="Calibri" pitchFamily="34" charset="0"/>
                <a:cs typeface="Calibri" pitchFamily="34" charset="0"/>
              </a:rPr>
              <a:t>- Interactive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map, chat, and user verification</a:t>
            </a:r>
            <a:endParaRPr lang="vi-VN" sz="1600" dirty="0">
              <a:latin typeface="Calibri" pitchFamily="34" charset="0"/>
              <a:cs typeface="Calibri" pitchFamily="34" charset="0"/>
            </a:endParaRPr>
          </a:p>
          <a:p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7" name="Subtitlu 2"/>
          <p:cNvSpPr txBox="1">
            <a:spLocks/>
          </p:cNvSpPr>
          <p:nvPr/>
        </p:nvSpPr>
        <p:spPr>
          <a:xfrm>
            <a:off x="6364174" y="3142078"/>
            <a:ext cx="5763410" cy="239297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Calibri" pitchFamily="34" charset="0"/>
                <a:cs typeface="Calibri" pitchFamily="34" charset="0"/>
              </a:rPr>
              <a:t>TARGET SEGMENTS</a:t>
            </a:r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:</a:t>
            </a:r>
          </a:p>
          <a:p>
            <a:r>
              <a:rPr lang="en-US" sz="1600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Requesters: 1.2M elderly (65+) in urban areas</a:t>
            </a:r>
          </a:p>
          <a:p>
            <a:r>
              <a:rPr lang="en-US" sz="1600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Volunteers: 800K young adults (18-35)</a:t>
            </a:r>
          </a:p>
          <a:p>
            <a:r>
              <a:rPr lang="en-US" sz="1600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Proxy Users: 2M concerned relatives</a:t>
            </a:r>
          </a:p>
          <a:p>
            <a:endParaRPr lang="en-US" sz="1600" b="1" dirty="0">
              <a:latin typeface="Calibri" pitchFamily="34" charset="0"/>
              <a:cs typeface="Calibri" pitchFamily="34" charset="0"/>
            </a:endParaRPr>
          </a:p>
          <a:p>
            <a:r>
              <a:rPr lang="en-US" sz="1600" b="1" dirty="0">
                <a:latin typeface="Calibri" pitchFamily="34" charset="0"/>
                <a:cs typeface="Calibri" pitchFamily="34" charset="0"/>
              </a:rPr>
              <a:t>SUSTAINABLE DEVELOPMENT GOALS:</a:t>
            </a:r>
          </a:p>
          <a:p>
            <a:r>
              <a:rPr lang="en-US" sz="1600" dirty="0">
                <a:latin typeface="Calibri" pitchFamily="34" charset="0"/>
                <a:cs typeface="Calibri" pitchFamily="34" charset="0"/>
              </a:rPr>
              <a:t>SDG 3 (Good 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Health), SDG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10 (Reduced Inequalities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), </a:t>
            </a:r>
          </a:p>
          <a:p>
            <a:r>
              <a:rPr lang="en-US" sz="1600" dirty="0" smtClean="0">
                <a:latin typeface="Calibri" pitchFamily="34" charset="0"/>
                <a:cs typeface="Calibri" pitchFamily="34" charset="0"/>
              </a:rPr>
              <a:t>SDG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11 (Sustainable 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Cities), SDG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17 (Partnerships)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0" name="object 8"/>
          <p:cNvSpPr txBox="1"/>
          <p:nvPr/>
        </p:nvSpPr>
        <p:spPr>
          <a:xfrm>
            <a:off x="370724" y="6259799"/>
            <a:ext cx="3896995" cy="3177793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b="1" dirty="0" smtClean="0">
                <a:latin typeface="+mj-lt"/>
                <a:cs typeface="Calibri"/>
              </a:rPr>
              <a:t>S</a:t>
            </a:r>
            <a:r>
              <a:rPr lang="en-US" dirty="0" smtClean="0">
                <a:latin typeface="+mj-lt"/>
                <a:cs typeface="Calibri"/>
              </a:rPr>
              <a:t> - Become the leading community assistance platform in Bucharest + 5 major cities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b="1" dirty="0" smtClean="0">
                <a:latin typeface="+mj-lt"/>
                <a:cs typeface="Calibri"/>
              </a:rPr>
              <a:t>M</a:t>
            </a:r>
            <a:r>
              <a:rPr lang="en-US" dirty="0" smtClean="0">
                <a:latin typeface="+mj-lt"/>
                <a:cs typeface="Calibri"/>
              </a:rPr>
              <a:t> - 10K active users, 50K completed requests, €50K ARR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b="1" dirty="0" smtClean="0">
                <a:latin typeface="+mj-lt"/>
                <a:cs typeface="Calibri"/>
              </a:rPr>
              <a:t>A</a:t>
            </a:r>
            <a:r>
              <a:rPr lang="en-US" dirty="0" smtClean="0">
                <a:latin typeface="+mj-lt"/>
                <a:cs typeface="Calibri"/>
              </a:rPr>
              <a:t> - Functional product, 200+ beta users, Validated market demand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b="1" dirty="0" smtClean="0">
                <a:latin typeface="+mj-lt"/>
                <a:cs typeface="Calibri"/>
              </a:rPr>
              <a:t>R</a:t>
            </a:r>
            <a:r>
              <a:rPr lang="en-US" dirty="0" smtClean="0">
                <a:latin typeface="+mj-lt"/>
                <a:cs typeface="Calibri"/>
              </a:rPr>
              <a:t> - Measurable social impact, Demographic trends, Crisis resilience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b="1" dirty="0" smtClean="0">
                <a:latin typeface="+mj-lt"/>
                <a:cs typeface="Calibri"/>
              </a:rPr>
              <a:t>T</a:t>
            </a:r>
            <a:r>
              <a:rPr lang="en-US" dirty="0" smtClean="0">
                <a:latin typeface="+mj-lt"/>
                <a:cs typeface="Calibri"/>
              </a:rPr>
              <a:t> - Q2 2026: Launch, Q4 2026: 5 cities, Q1 2027: Break-even</a:t>
            </a:r>
            <a:endParaRPr lang="en-US" dirty="0">
              <a:latin typeface="+mj-lt"/>
              <a:cs typeface="Calibri"/>
            </a:endParaRPr>
          </a:p>
        </p:txBody>
      </p:sp>
      <p:sp>
        <p:nvSpPr>
          <p:cNvPr id="41" name="object 8"/>
          <p:cNvSpPr txBox="1"/>
          <p:nvPr/>
        </p:nvSpPr>
        <p:spPr>
          <a:xfrm>
            <a:off x="4318201" y="6251269"/>
            <a:ext cx="3878919" cy="3203441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b="1" dirty="0" smtClean="0">
                <a:latin typeface="+mj-lt"/>
                <a:cs typeface="Calibri"/>
              </a:rPr>
              <a:t>Partners (40%): </a:t>
            </a:r>
            <a:r>
              <a:rPr lang="en-US" dirty="0" smtClean="0">
                <a:latin typeface="+mj-lt"/>
                <a:cs typeface="Calibri"/>
              </a:rPr>
              <a:t>5-10% commission → €10K/month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b="1" dirty="0" smtClean="0">
                <a:latin typeface="+mj-lt"/>
                <a:cs typeface="Calibri"/>
              </a:rPr>
              <a:t>Premium (30%): </a:t>
            </a:r>
            <a:r>
              <a:rPr lang="en-US" dirty="0" smtClean="0">
                <a:latin typeface="+mj-lt"/>
                <a:cs typeface="Calibri"/>
              </a:rPr>
              <a:t>€10/month subscription → €7.5K/month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b="1" dirty="0" smtClean="0">
                <a:latin typeface="+mj-lt"/>
                <a:cs typeface="Calibri"/>
              </a:rPr>
              <a:t>Sponsors (20%): </a:t>
            </a:r>
            <a:r>
              <a:rPr lang="en-US" dirty="0" smtClean="0">
                <a:latin typeface="+mj-lt"/>
                <a:cs typeface="Calibri"/>
              </a:rPr>
              <a:t>CSR </a:t>
            </a:r>
            <a:r>
              <a:rPr lang="en-US" dirty="0" err="1" smtClean="0">
                <a:latin typeface="+mj-lt"/>
                <a:cs typeface="Calibri"/>
              </a:rPr>
              <a:t>programmes</a:t>
            </a:r>
            <a:r>
              <a:rPr lang="en-US" dirty="0" smtClean="0">
                <a:latin typeface="+mj-lt"/>
                <a:cs typeface="Calibri"/>
              </a:rPr>
              <a:t> → €5K/month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b="1" dirty="0" smtClean="0">
                <a:latin typeface="+mj-lt"/>
                <a:cs typeface="Calibri"/>
              </a:rPr>
              <a:t>Grants (10%): </a:t>
            </a:r>
            <a:r>
              <a:rPr lang="en-US" dirty="0" smtClean="0">
                <a:latin typeface="+mj-lt"/>
                <a:cs typeface="Calibri"/>
              </a:rPr>
              <a:t>EU/Government → €2.5K/month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endParaRPr lang="en-US" dirty="0">
              <a:latin typeface="+mj-lt"/>
              <a:cs typeface="Calibri"/>
            </a:endParaRP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b="1" dirty="0" smtClean="0">
                <a:latin typeface="+mj-lt"/>
                <a:cs typeface="Calibri"/>
              </a:rPr>
              <a:t>Year 1</a:t>
            </a:r>
            <a:r>
              <a:rPr lang="en-US" dirty="0" smtClean="0">
                <a:latin typeface="+mj-lt"/>
                <a:cs typeface="Calibri"/>
              </a:rPr>
              <a:t>: €43K → </a:t>
            </a:r>
            <a:r>
              <a:rPr lang="en-US" b="1" dirty="0" smtClean="0">
                <a:latin typeface="+mj-lt"/>
                <a:cs typeface="Calibri"/>
              </a:rPr>
              <a:t>Year 2</a:t>
            </a:r>
            <a:r>
              <a:rPr lang="en-US" dirty="0" smtClean="0">
                <a:latin typeface="+mj-lt"/>
                <a:cs typeface="Calibri"/>
              </a:rPr>
              <a:t>: €180K | LTV/CAC: 9.6x</a:t>
            </a:r>
          </a:p>
        </p:txBody>
      </p:sp>
      <p:sp>
        <p:nvSpPr>
          <p:cNvPr id="42" name="object 8"/>
          <p:cNvSpPr txBox="1"/>
          <p:nvPr/>
        </p:nvSpPr>
        <p:spPr>
          <a:xfrm>
            <a:off x="8229524" y="6259799"/>
            <a:ext cx="3944740" cy="2346796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b="1" dirty="0" smtClean="0">
                <a:latin typeface="+mj-lt"/>
                <a:cs typeface="Calibri"/>
              </a:rPr>
              <a:t>Grassroots (40%): </a:t>
            </a:r>
            <a:r>
              <a:rPr lang="en-US" dirty="0" smtClean="0">
                <a:latin typeface="+mj-lt"/>
                <a:cs typeface="Calibri"/>
              </a:rPr>
              <a:t>Community outreach, partnerships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b="1" dirty="0" smtClean="0">
                <a:latin typeface="+mj-lt"/>
                <a:cs typeface="Calibri"/>
              </a:rPr>
              <a:t>Digital Ads (30%): </a:t>
            </a:r>
            <a:r>
              <a:rPr lang="en-US" dirty="0" smtClean="0">
                <a:latin typeface="+mj-lt"/>
                <a:cs typeface="Calibri"/>
              </a:rPr>
              <a:t>FB/IG targeted campaigns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b="1" dirty="0" smtClean="0">
                <a:latin typeface="+mj-lt"/>
                <a:cs typeface="Calibri"/>
              </a:rPr>
              <a:t>Strategic Partnerships (20%): </a:t>
            </a:r>
            <a:r>
              <a:rPr lang="en-US" dirty="0" smtClean="0">
                <a:latin typeface="+mj-lt"/>
                <a:cs typeface="Calibri"/>
              </a:rPr>
              <a:t>Pharmacies, municipalities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endParaRPr lang="en-US" b="1" dirty="0" smtClean="0">
              <a:latin typeface="+mj-lt"/>
              <a:cs typeface="Calibri"/>
            </a:endParaRP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b="1" dirty="0" smtClean="0">
                <a:latin typeface="+mj-lt"/>
                <a:cs typeface="Calibri"/>
              </a:rPr>
              <a:t>Budget: </a:t>
            </a:r>
            <a:r>
              <a:rPr lang="en-US" dirty="0" smtClean="0">
                <a:latin typeface="+mj-lt"/>
                <a:cs typeface="Calibri"/>
              </a:rPr>
              <a:t>€44K </a:t>
            </a:r>
            <a:r>
              <a:rPr lang="en-US" b="1" dirty="0" smtClean="0">
                <a:latin typeface="+mj-lt"/>
                <a:cs typeface="Calibri"/>
              </a:rPr>
              <a:t>| CAC: </a:t>
            </a:r>
            <a:r>
              <a:rPr lang="en-US" dirty="0" smtClean="0">
                <a:latin typeface="+mj-lt"/>
                <a:cs typeface="Calibri"/>
              </a:rPr>
              <a:t>€4.38 </a:t>
            </a:r>
            <a:r>
              <a:rPr lang="en-US" b="1" dirty="0" smtClean="0">
                <a:latin typeface="+mj-lt"/>
                <a:cs typeface="Calibri"/>
              </a:rPr>
              <a:t>| LTV: </a:t>
            </a:r>
            <a:r>
              <a:rPr lang="en-US" dirty="0" smtClean="0">
                <a:latin typeface="+mj-lt"/>
                <a:cs typeface="Calibri"/>
              </a:rPr>
              <a:t>€42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356</Words>
  <Application>Microsoft Office PowerPoint</Application>
  <PresentationFormat>Hârtie A3 (297x420 mm)</PresentationFormat>
  <Paragraphs>43</Paragraphs>
  <Slides>1</Slides>
  <Notes>1</Notes>
  <HiddenSlides>0</HiddenSlides>
  <MMClips>0</MMClips>
  <ScaleCrop>false</ScaleCrop>
  <HeadingPairs>
    <vt:vector size="4" baseType="variant">
      <vt:variant>
        <vt:lpstr>Temă</vt:lpstr>
      </vt:variant>
      <vt:variant>
        <vt:i4>1</vt:i4>
      </vt:variant>
      <vt:variant>
        <vt:lpstr>Titluri diapozitive</vt:lpstr>
      </vt:variant>
      <vt:variant>
        <vt:i4>1</vt:i4>
      </vt:variant>
    </vt:vector>
  </HeadingPairs>
  <TitlesOfParts>
    <vt:vector size="2" baseType="lpstr">
      <vt:lpstr>Office Theme</vt:lpstr>
      <vt:lpstr>PROJECT NAME: TEAM MEMBERS: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V.I.S.Canvas.pptx</dc:title>
  <cp:lastModifiedBy>pc</cp:lastModifiedBy>
  <cp:revision>7</cp:revision>
  <dcterms:created xsi:type="dcterms:W3CDTF">2025-02-07T13:41:18Z</dcterms:created>
  <dcterms:modified xsi:type="dcterms:W3CDTF">2026-04-30T22:18:05Z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2025-02-07T00:00:00Z</vt:filetime>
  </property>
  <property fmtid="{D5CDD505-2E9C-101B-9397-08002B2CF9AE}" pid="3" name="Creator">
    <vt:lpwstr>Google</vt:lpwstr>
  </property>
  <property fmtid="{D5CDD505-2E9C-101B-9397-08002B2CF9AE}" pid="4" name="LastSaved">
    <vt:filetime>2025-02-07T00:00:00Z</vt:filetime>
  </property>
</Properties>
</file>